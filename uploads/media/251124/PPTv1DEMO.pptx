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F9FD"/>
    <a:srgbClr val="8A3F0C"/>
    <a:srgbClr val="672F09"/>
    <a:srgbClr val="582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49" autoAdjust="0"/>
    <p:restoredTop sz="94660"/>
  </p:normalViewPr>
  <p:slideViewPr>
    <p:cSldViewPr snapToGrid="0">
      <p:cViewPr>
        <p:scale>
          <a:sx n="100" d="100"/>
          <a:sy n="100" d="100"/>
        </p:scale>
        <p:origin x="1640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DC3E2-F505-46B4-95C9-209E612E1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E4926E-FEA3-4F27-964E-8920BF08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E258B-787A-44C6-897F-2C6FB824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AEBC34-4B7E-48F7-93DC-CC6228FC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38222-16B6-425A-88EE-B28B00AD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522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29456-E3A8-4857-B8FC-5867B096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84710-6D87-43B5-BA8A-38619B7E6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8B873-91DB-41B9-80E0-874E1668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50E106-E5E0-4C36-A97D-3E5B1DB93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733C0-622F-4755-B985-E7BBC34C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4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A4A40-00C6-49FB-A153-AED6CF7BD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D47D4E-4E73-4B47-B416-9832F69E4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47C668-D134-4112-BB23-2FEB7624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A07AF-F75F-4756-8E01-090F6192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7AFEF-783C-4912-B347-AD3BB888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96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55C81-DEA0-4F51-B228-CB315DFC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D4EE8F-26C0-494E-A90F-48ACB1763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C8FC9E-0F9D-459E-AD84-46A7CAEAD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52401D-0DE8-4556-A79B-CBD32B29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4C9C1C-7ABC-4656-98D1-D90E711E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3D815F-B310-422F-AD19-F87B78F4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76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601D5-3E9A-4400-AAE3-0743A5325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613A16-E088-4171-8588-1F7862BCB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4B944F-7331-4639-8B33-C9F87A0C3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A1C2D0-7F89-4EB0-A99F-730313D84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7874F8-A675-47D5-B9E6-4759A4A35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47E477-36DE-4B64-B8ED-9EA079E7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A032D1-AB2B-4401-AA34-233E802C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616F57-9794-4955-8222-F2EFEC16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307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57F73-AA68-4241-BA84-1554DD65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39F0CD-C48F-4D6A-A1BA-CFFD02A8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D60EEE-61D1-4B13-B50F-7CD2CDF8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E66E45-0FD4-4C54-94A1-DC2F692B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784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8C91AF-D019-40C7-B508-987418CCB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F5B552-0CF6-4147-A149-B0EB4A84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6B6F4E-75F5-407C-B3FB-3D04AAFD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519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CBAA16-7DD6-490C-9E6B-8B8EDC5F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F3E42-4E81-4E0A-B2F7-91BF4E12B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DB417E-487C-437E-899A-308844827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E133CA-A28A-4101-834E-A2690EEF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EF876B-EFA8-4D44-B13C-17312B7B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C49652-CCF8-404D-A650-0CE8190E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374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B0FF8-38F6-4968-847F-7789AA4B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78070E-CB2A-4734-9FBA-9B078C131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B7E239-AE56-4A3B-BB43-FF27AD533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7A500F-F5DD-464F-883E-FCFA4BB2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4C4B25-725F-494C-B64B-AA4040AE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9BFFAB-F6BF-4257-A476-5CAAF997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415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A5BC2-D2E9-4349-B102-56866BBA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2EB081-3EB3-47BA-9C97-9971858C8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DAD6B7-14D6-4EDB-B5EE-FDDE7C4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4796EB-B201-4DBA-8DAD-E54EF522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117068-95A1-4F0D-8CFC-BF8C9D14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64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1DBCCE-68B5-484E-956E-A687988F7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D77E11-3FC2-453A-8F46-BDE99E5CE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756F0E-6C6F-4F0F-AF05-5FCF7AD7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6CA73-273E-46A6-A6CD-EB97EEF5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E48141-ABC3-46F5-BE3B-77F71BEA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898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221E8B-7322-4551-8EA9-69A005E46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BF013E-C6C1-48AA-8201-A69C6264A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A17DD2-A40A-4FE5-8024-1CDF7835E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5B78D-58B9-48F3-A9B2-F1C6425A78F5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B57012-8D2E-473C-A0A2-A77441541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07C2D0-D3D0-4E6B-872E-C3FEC1868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6FBAB-F60A-4A18-9F5C-5CBEFD4C55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49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9.png"/><Relationship Id="rId18" Type="http://schemas.openxmlformats.org/officeDocument/2006/relationships/image" Target="../media/image3.png"/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2.png"/><Relationship Id="rId2" Type="http://schemas.openxmlformats.org/officeDocument/2006/relationships/image" Target="../media/image25.png"/><Relationship Id="rId16" Type="http://schemas.openxmlformats.org/officeDocument/2006/relationships/image" Target="../media/image23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5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1.png"/><Relationship Id="rId1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20.png"/><Relationship Id="rId17" Type="http://schemas.openxmlformats.org/officeDocument/2006/relationships/image" Target="../media/image3.png"/><Relationship Id="rId2" Type="http://schemas.openxmlformats.org/officeDocument/2006/relationships/image" Target="../media/image25.png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9.png"/><Relationship Id="rId5" Type="http://schemas.openxmlformats.org/officeDocument/2006/relationships/image" Target="../media/image6.png"/><Relationship Id="rId15" Type="http://schemas.openxmlformats.org/officeDocument/2006/relationships/image" Target="../media/image27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.png"/><Relationship Id="rId3" Type="http://schemas.openxmlformats.org/officeDocument/2006/relationships/image" Target="../media/image26.png"/><Relationship Id="rId7" Type="http://schemas.openxmlformats.org/officeDocument/2006/relationships/image" Target="../media/image14.png"/><Relationship Id="rId12" Type="http://schemas.openxmlformats.org/officeDocument/2006/relationships/image" Target="../media/image11.png"/><Relationship Id="rId2" Type="http://schemas.openxmlformats.org/officeDocument/2006/relationships/image" Target="../media/image25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3.png"/><Relationship Id="rId10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20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90">
            <a:extLst>
              <a:ext uri="{FF2B5EF4-FFF2-40B4-BE49-F238E27FC236}">
                <a16:creationId xmlns:a16="http://schemas.microsoft.com/office/drawing/2014/main" id="{AD57A203-AE61-4554-9FF3-E5EAC6656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64697F9-FA69-4791-9267-B5C16C36B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4862">
            <a:off x="3559109" y="8269570"/>
            <a:ext cx="1084326" cy="1312867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7818E492-F943-4DE8-BA80-D66C5474F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4862">
            <a:off x="3628322" y="8825517"/>
            <a:ext cx="945900" cy="152969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818B671-0C32-43BC-B82F-23E0A4641D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4862">
            <a:off x="3170186" y="7134942"/>
            <a:ext cx="1174943" cy="1375969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ABBB7BBA-DA9C-4664-8DDA-C8938BF2B896}"/>
              </a:ext>
            </a:extLst>
          </p:cNvPr>
          <p:cNvGrpSpPr/>
          <p:nvPr/>
        </p:nvGrpSpPr>
        <p:grpSpPr>
          <a:xfrm>
            <a:off x="4913075" y="7310945"/>
            <a:ext cx="1626482" cy="1164392"/>
            <a:chOff x="3821818" y="1291013"/>
            <a:chExt cx="7874591" cy="5637386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A82F1815-C33D-487C-AF21-0BE6634C6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21818" y="1291013"/>
              <a:ext cx="7874591" cy="5637386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080DB742-46E5-4E01-B23C-EDDE4BB16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8095" y="1514998"/>
              <a:ext cx="2035301" cy="851868"/>
            </a:xfrm>
            <a:prstGeom prst="rect">
              <a:avLst/>
            </a:prstGeom>
          </p:spPr>
        </p:pic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DCF290E9-8AFA-4D56-9CD4-14EC87CADEF6}"/>
              </a:ext>
            </a:extLst>
          </p:cNvPr>
          <p:cNvSpPr txBox="1"/>
          <p:nvPr/>
        </p:nvSpPr>
        <p:spPr>
          <a:xfrm>
            <a:off x="4871940" y="9163508"/>
            <a:ext cx="1135830" cy="77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无锡，是吴地烟水孕就的千年史诗，</a:t>
            </a:r>
            <a:endParaRPr lang="en-US" altLang="zh-CN" sz="3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砚底沉潜着运河帆影的雄浑、古桥苔痕的苍劲；</a:t>
            </a:r>
          </a:p>
          <a:p>
            <a:pPr>
              <a:lnSpc>
                <a:spcPct val="150000"/>
              </a:lnSpc>
            </a:pPr>
            <a:r>
              <a:rPr lang="zh-CN" altLang="en-US" sz="3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是太湖万顷碧波托举的青峦长卷，</a:t>
            </a:r>
            <a:endParaRPr lang="en-US" altLang="zh-CN" sz="3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笔端奔涌着鼋头春潮的浩渺、惠麓松涛的磅礴。</a:t>
            </a:r>
          </a:p>
          <a:p>
            <a:pPr>
              <a:lnSpc>
                <a:spcPct val="150000"/>
              </a:lnSpc>
            </a:pPr>
            <a:endParaRPr lang="zh-CN" altLang="en-US" sz="3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今日新吴，扼无锡新脉，承古拓今，</a:t>
            </a:r>
            <a:endParaRPr lang="en-US" altLang="zh-CN" sz="3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于诗意江南的壮阔底色上，铺展文化与科技交响的时代新篇。</a:t>
            </a:r>
          </a:p>
          <a:p>
            <a:pPr>
              <a:lnSpc>
                <a:spcPct val="150000"/>
              </a:lnSpc>
            </a:pPr>
            <a:r>
              <a:rPr lang="zh-CN" altLang="en-US" sz="3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既有湖光山色的气象万千，园林古镇的岁月沉香；</a:t>
            </a:r>
          </a:p>
          <a:p>
            <a:pPr>
              <a:lnSpc>
                <a:spcPct val="150000"/>
              </a:lnSpc>
            </a:pPr>
            <a:r>
              <a:rPr lang="zh-CN" altLang="en-US" sz="3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亦有智能制造的铿锵铁律，创新驱动的时代潮涌。</a:t>
            </a:r>
            <a:endParaRPr kumimoji="1" lang="zh-CN" altLang="en-US" sz="3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9F4B354-E59D-4BCE-9AB7-6B9FB8ECD55E}"/>
              </a:ext>
            </a:extLst>
          </p:cNvPr>
          <p:cNvSpPr txBox="1"/>
          <p:nvPr/>
        </p:nvSpPr>
        <p:spPr>
          <a:xfrm>
            <a:off x="4973958" y="8420390"/>
            <a:ext cx="398154" cy="173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" dirty="0">
                <a:latin typeface="梦源黑体 CN W20" panose="020B0200000000000000" pitchFamily="34" charset="-122"/>
                <a:ea typeface="梦源黑体 CN W20" panose="020B0200000000000000" pitchFamily="34" charset="-122"/>
              </a:rPr>
              <a:t>新吴印象</a:t>
            </a:r>
            <a:endParaRPr kumimoji="1" lang="zh-CN" altLang="en-US" sz="400" dirty="0">
              <a:latin typeface="梦源黑体 CN W20" panose="020B0200000000000000" pitchFamily="34" charset="-122"/>
              <a:ea typeface="梦源黑体 CN W20" panose="020B0200000000000000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ECCFB88-2D3A-4AC6-8FDE-42E6EE4D3628}"/>
              </a:ext>
            </a:extLst>
          </p:cNvPr>
          <p:cNvCxnSpPr>
            <a:cxnSpLocks/>
          </p:cNvCxnSpPr>
          <p:nvPr/>
        </p:nvCxnSpPr>
        <p:spPr>
          <a:xfrm>
            <a:off x="5333504" y="8472140"/>
            <a:ext cx="0" cy="63844"/>
          </a:xfrm>
          <a:prstGeom prst="line">
            <a:avLst/>
          </a:prstGeom>
          <a:ln w="1905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A7579B33-F306-4D4F-9F88-DE13A1E605F8}"/>
              </a:ext>
            </a:extLst>
          </p:cNvPr>
          <p:cNvSpPr txBox="1"/>
          <p:nvPr/>
        </p:nvSpPr>
        <p:spPr>
          <a:xfrm>
            <a:off x="5326656" y="8418295"/>
            <a:ext cx="769344" cy="173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" dirty="0">
                <a:solidFill>
                  <a:schemeClr val="tx1">
                    <a:alpha val="50000"/>
                  </a:schemeClr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Impression of </a:t>
            </a:r>
            <a:r>
              <a:rPr lang="en-US" altLang="zh-CN" sz="400" dirty="0" err="1">
                <a:solidFill>
                  <a:schemeClr val="tx1">
                    <a:alpha val="50000"/>
                  </a:schemeClr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Xinwu</a:t>
            </a:r>
            <a:endParaRPr kumimoji="1" lang="zh-CN" altLang="en-US" sz="400" dirty="0">
              <a:solidFill>
                <a:schemeClr val="tx1">
                  <a:alpha val="50000"/>
                </a:schemeClr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A9B19C16-B313-4D96-9A95-AB1EF631D7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220" y="2361399"/>
            <a:ext cx="7185559" cy="2261401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8AF5EF7B-AED1-417A-A1A4-A8C5526646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7350" y="1676008"/>
            <a:ext cx="4735806" cy="2343542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713718A5-30E6-4324-85D9-E6C64D32C4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246" y="2693852"/>
            <a:ext cx="8775700" cy="357206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9FB3ABEA-9B13-418E-9129-A27A7805E4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583" y="1808792"/>
            <a:ext cx="825768" cy="804037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1F3A9BC5-2F7B-4CD8-B390-410CB0FF42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555" y="3170490"/>
            <a:ext cx="1375170" cy="985051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10D47DD3-34C6-41A5-BCD8-9E3DCEF4AA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247" y="3663016"/>
            <a:ext cx="1074444" cy="1292237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F7F95952-B3AE-429C-9EF8-B4AC59CE7F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604" y="592081"/>
            <a:ext cx="1534973" cy="1399818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3C559D7D-1165-453B-81F1-D9D1A7375AA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620" y="665910"/>
            <a:ext cx="644988" cy="677645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03E30AA4-8DEB-451A-8D31-AC07915DCF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217" y="2529984"/>
            <a:ext cx="511382" cy="537947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9AD1F5A8-A6F8-481E-9D9D-CB3CFA71EB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168" y="1484158"/>
            <a:ext cx="405522" cy="424296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33F5F50D-10D9-4667-99A5-EAC909EC65F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007" y="799531"/>
            <a:ext cx="627993" cy="659619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F69DA711-FCDF-40D0-A631-E5FFC90A3CF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64" y="236369"/>
            <a:ext cx="818086" cy="1090781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11BB2DF5-73EE-4ED3-BBD4-D2E7EF9F3AF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50" y="2929533"/>
            <a:ext cx="11827758" cy="4272201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5CAB2D47-1F9B-4BF2-B22F-F55D5100C37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289" y="4156381"/>
            <a:ext cx="4335061" cy="2899674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50781032-6775-4F85-B6EC-7162EA0719B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56" y="5582522"/>
            <a:ext cx="1361473" cy="1757115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50F549C1-4DBE-451D-B0B4-224AFFF9ABE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14" y="2719069"/>
            <a:ext cx="4975907" cy="683712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102C061F-044B-45E1-85D6-89D04412E01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738" y="594299"/>
            <a:ext cx="6184191" cy="2197331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B74AF0C9-DB0A-4C14-BDDB-B17B5BA1687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96" y="4230014"/>
            <a:ext cx="1779880" cy="155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C 0.04089 0.06759 0.06094 0.09051 0.11302 0.12824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51" y="64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2.59259E-6 L 4.79167E-6 0.04653 " pathEditMode="relative" rAng="0" ptsTypes="AA">
                                      <p:cBhvr>
                                        <p:cTn id="8" dur="1000" spd="-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1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11111E-6 L 3.75E-6 0.15579 " pathEditMode="relative" rAng="0" ptsTypes="AA">
                                      <p:cBhvr>
                                        <p:cTn id="10" dur="1000" spd="-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7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3.7037E-7 L -3.125E-6 0.25 " pathEditMode="relative" rAng="0" ptsTypes="AA">
                                      <p:cBhvr>
                                        <p:cTn id="12" dur="100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7.40741E-7 L -4.375E-6 0.0257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7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0.00052 0.03148 " pathEditMode="relative" rAng="0" ptsTypes="AA">
                                      <p:cBhvr>
                                        <p:cTn id="16" dur="100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57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0.00039 0.02685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34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2.59259E-6 L -0.00013 0.04954 " pathEditMode="relative" rAng="0" ptsTypes="AA">
                                      <p:cBhvr>
                                        <p:cTn id="20" dur="10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247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-3.33333E-6 0.02176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8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3.33333E-6 L 0.00078 0.01713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85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-0.00026 0.01018 " pathEditMode="relative" rAng="0" ptsTypes="AA">
                                      <p:cBhvr>
                                        <p:cTn id="26" dur="100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50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7.40741E-7 L 0.01289 0.01991 " pathEditMode="relative" rAng="0" ptsTypes="AA">
                                      <p:cBhvr>
                                        <p:cTn id="28" dur="10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8" y="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1E1C6784-EF64-4C7C-962B-12FCEC44D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DE06A186-0A02-4A30-B8DD-86CACEE99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794" y="310204"/>
            <a:ext cx="4726823" cy="1320524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64FC46D4-6E46-492B-814F-506C8E27B004}"/>
              </a:ext>
            </a:extLst>
          </p:cNvPr>
          <p:cNvGrpSpPr/>
          <p:nvPr/>
        </p:nvGrpSpPr>
        <p:grpSpPr>
          <a:xfrm>
            <a:off x="3821818" y="1291013"/>
            <a:ext cx="7874591" cy="5637386"/>
            <a:chOff x="3821818" y="1291013"/>
            <a:chExt cx="7874591" cy="5637386"/>
          </a:xfrm>
        </p:grpSpPr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3A412A7A-284B-4B70-8694-E7F791F85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21818" y="1291013"/>
              <a:ext cx="7874591" cy="563738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AAD2898-B451-4AAF-A4F1-D9FE54BE0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8095" y="1514998"/>
              <a:ext cx="2035301" cy="851868"/>
            </a:xfrm>
            <a:prstGeom prst="rect">
              <a:avLst/>
            </a:prstGeom>
          </p:spPr>
        </p:pic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F40F4F72-C713-441E-8CAA-2B0E1D2EB55D}"/>
              </a:ext>
            </a:extLst>
          </p:cNvPr>
          <p:cNvSpPr txBox="1"/>
          <p:nvPr/>
        </p:nvSpPr>
        <p:spPr>
          <a:xfrm>
            <a:off x="5189999" y="2649792"/>
            <a:ext cx="5499104" cy="316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无锡，是吴地烟水孕就的千年史诗，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砚底沉潜着运河帆影的雄浑、古桥苔痕的苍劲；</a:t>
            </a: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是太湖万顷碧波托举的青峦长卷，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笔端奔涌着鼋头春潮的浩渺、惠麓松涛的磅礴。</a:t>
            </a:r>
          </a:p>
          <a:p>
            <a:pPr>
              <a:lnSpc>
                <a:spcPct val="150000"/>
              </a:lnSpc>
            </a:pPr>
            <a:endParaRPr lang="zh-CN" altLang="en-US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今日新吴，扼无锡新脉，承古拓今，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于诗意江南的壮阔底色上，铺展文化与科技交响的时代新篇。</a:t>
            </a: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既有湖光山色的气象万千，园林古镇的岁月沉香；</a:t>
            </a: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亦有智能制造的铿锵铁律，创新驱动的时代潮涌。</a:t>
            </a:r>
            <a:endParaRPr kumimoji="1" lang="zh-CN" altLang="en-US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C7ADEBD-90C5-446A-A690-00A80DE6DD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43411" y="288818"/>
            <a:ext cx="2619807" cy="129642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9AD58DA-9B6D-4ABE-913B-652BC56819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246" y="6615441"/>
            <a:ext cx="8775700" cy="357206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2551BB8-DC2E-4C88-BB3D-9D0C4C82C3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055" y="1838015"/>
            <a:ext cx="825768" cy="80403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ACDD97B-4337-4EC2-9443-4AD9AEF21C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771" y="3525754"/>
            <a:ext cx="1375170" cy="98505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2BB1A9A-3752-4938-AADA-6B602061EA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327" y="7327264"/>
            <a:ext cx="1074444" cy="129223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71B8C51-405F-4A33-8D6C-9976F8B5BC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22" y="189894"/>
            <a:ext cx="1089056" cy="99316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7CC6C1C-3F2A-4071-A480-77C329CE98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26" y="310204"/>
            <a:ext cx="509983" cy="53580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DF5FCB34-5535-4198-8085-1DF6E6A744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288" y="4018280"/>
            <a:ext cx="8813519" cy="318345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A1FA4C7-9979-4F5D-9904-FFF1CD73CC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055" y="4895347"/>
            <a:ext cx="3230295" cy="21607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64DA957-F042-4E5F-AA8C-E0ADB878761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500" y="5883804"/>
            <a:ext cx="1014509" cy="130932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52AB6C0-1199-4B42-8DAD-0B8ACFE981D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03" y="288818"/>
            <a:ext cx="2516757" cy="89424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7D20883-B91D-4CB7-9468-6E05C996E071}"/>
              </a:ext>
            </a:extLst>
          </p:cNvPr>
          <p:cNvSpPr txBox="1"/>
          <p:nvPr/>
        </p:nvSpPr>
        <p:spPr>
          <a:xfrm>
            <a:off x="5108986" y="1577224"/>
            <a:ext cx="1699416" cy="662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梦源黑体 CN W20" panose="020B0200000000000000" pitchFamily="34" charset="-122"/>
                <a:ea typeface="梦源黑体 CN W20" panose="020B0200000000000000" pitchFamily="34" charset="-122"/>
              </a:rPr>
              <a:t>新吴印象</a:t>
            </a:r>
            <a:endParaRPr kumimoji="1" lang="zh-CN" altLang="en-US" sz="2800" dirty="0">
              <a:latin typeface="梦源黑体 CN W20" panose="020B0200000000000000" pitchFamily="34" charset="-122"/>
              <a:ea typeface="梦源黑体 CN W20" panose="020B0200000000000000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6750A6-58F9-42B4-AAA8-41AF17882571}"/>
              </a:ext>
            </a:extLst>
          </p:cNvPr>
          <p:cNvCxnSpPr>
            <a:cxnSpLocks/>
          </p:cNvCxnSpPr>
          <p:nvPr/>
        </p:nvCxnSpPr>
        <p:spPr>
          <a:xfrm>
            <a:off x="6849721" y="1827771"/>
            <a:ext cx="0" cy="309100"/>
          </a:xfrm>
          <a:prstGeom prst="line">
            <a:avLst/>
          </a:prstGeom>
          <a:ln w="1905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2CB26D5-B975-4D69-8E70-C886F40529F2}"/>
              </a:ext>
            </a:extLst>
          </p:cNvPr>
          <p:cNvSpPr txBox="1"/>
          <p:nvPr/>
        </p:nvSpPr>
        <p:spPr>
          <a:xfrm>
            <a:off x="6964337" y="1658721"/>
            <a:ext cx="3085474" cy="581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alpha val="50000"/>
                  </a:schemeClr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Impression of </a:t>
            </a:r>
            <a:r>
              <a:rPr lang="en-US" altLang="zh-CN" sz="2400" dirty="0" err="1">
                <a:solidFill>
                  <a:schemeClr val="tx1">
                    <a:alpha val="50000"/>
                  </a:schemeClr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Xinwu</a:t>
            </a:r>
            <a:endParaRPr kumimoji="1" lang="zh-CN" altLang="en-US" sz="2400" dirty="0">
              <a:solidFill>
                <a:schemeClr val="tx1">
                  <a:alpha val="50000"/>
                </a:schemeClr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6ABFA0B-8B42-4228-90E5-8B45080F7CB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3" y="1343393"/>
            <a:ext cx="4167376" cy="504572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FA651F2-E62B-4757-9F8B-81AB0B7A2DA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77" y="835873"/>
            <a:ext cx="3635366" cy="587907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C1875A8-5FA9-4056-B7C9-B45F89C2072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77" y="1163357"/>
            <a:ext cx="4515645" cy="528824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750F194-F37D-4FF3-9B6D-C137E0A710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21" y="5494224"/>
            <a:ext cx="1299871" cy="113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8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1E1C6784-EF64-4C7C-962B-12FCEC44D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DE06A186-0A02-4A30-B8DD-86CACEE99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794" y="310204"/>
            <a:ext cx="4726823" cy="1320524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64FC46D4-6E46-492B-814F-506C8E27B004}"/>
              </a:ext>
            </a:extLst>
          </p:cNvPr>
          <p:cNvGrpSpPr/>
          <p:nvPr/>
        </p:nvGrpSpPr>
        <p:grpSpPr>
          <a:xfrm>
            <a:off x="3821818" y="1291013"/>
            <a:ext cx="7874591" cy="5637386"/>
            <a:chOff x="3821818" y="1291013"/>
            <a:chExt cx="7874591" cy="5637386"/>
          </a:xfrm>
        </p:grpSpPr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3A412A7A-284B-4B70-8694-E7F791F85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21818" y="1291013"/>
              <a:ext cx="7874591" cy="563738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AAD2898-B451-4AAF-A4F1-D9FE54BE0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8095" y="1514998"/>
              <a:ext cx="2035301" cy="851868"/>
            </a:xfrm>
            <a:prstGeom prst="rect">
              <a:avLst/>
            </a:prstGeom>
          </p:spPr>
        </p:pic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F40F4F72-C713-441E-8CAA-2B0E1D2EB55D}"/>
              </a:ext>
            </a:extLst>
          </p:cNvPr>
          <p:cNvSpPr txBox="1"/>
          <p:nvPr/>
        </p:nvSpPr>
        <p:spPr>
          <a:xfrm>
            <a:off x="5189999" y="2649792"/>
            <a:ext cx="5499104" cy="316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无锡，是吴地烟水孕就的千年史诗，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砚底沉潜着运河帆影的雄浑、古桥苔痕的苍劲；</a:t>
            </a: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是太湖万顷碧波托举的青峦长卷，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笔端奔涌着鼋头春潮的浩渺、惠麓松涛的磅礴。</a:t>
            </a:r>
          </a:p>
          <a:p>
            <a:pPr>
              <a:lnSpc>
                <a:spcPct val="150000"/>
              </a:lnSpc>
            </a:pPr>
            <a:endParaRPr lang="zh-CN" altLang="en-US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今日新吴，扼无锡新脉，承古拓今，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于诗意江南的壮阔底色上，铺展文化与科技交响的时代新篇。</a:t>
            </a: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既有湖光山色的气象万千，园林古镇的岁月沉香；</a:t>
            </a: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亦有智能制造的铿锵铁律，创新驱动的时代潮涌。</a:t>
            </a:r>
            <a:endParaRPr kumimoji="1" lang="zh-CN" altLang="en-US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C7ADEBD-90C5-446A-A690-00A80DE6DD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43411" y="288818"/>
            <a:ext cx="2619807" cy="129642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2551BB8-DC2E-4C88-BB3D-9D0C4C82C3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055" y="1838015"/>
            <a:ext cx="825768" cy="80403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ACDD97B-4337-4EC2-9443-4AD9AEF21C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771" y="3525754"/>
            <a:ext cx="1375170" cy="98505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71B8C51-405F-4A33-8D6C-9976F8B5BC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22" y="189894"/>
            <a:ext cx="1089056" cy="99316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7CC6C1C-3F2A-4071-A480-77C329CE98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26" y="310204"/>
            <a:ext cx="509983" cy="53580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DF5FCB34-5535-4198-8085-1DF6E6A744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288" y="4018280"/>
            <a:ext cx="8813519" cy="318345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A1FA4C7-9979-4F5D-9904-FFF1CD73CC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055" y="4895347"/>
            <a:ext cx="3230295" cy="21607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64DA957-F042-4E5F-AA8C-E0ADB878761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500" y="5883804"/>
            <a:ext cx="1014509" cy="130932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52AB6C0-1199-4B42-8DAD-0B8ACFE981D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03" y="288818"/>
            <a:ext cx="2516757" cy="89424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7D20883-B91D-4CB7-9468-6E05C996E071}"/>
              </a:ext>
            </a:extLst>
          </p:cNvPr>
          <p:cNvSpPr txBox="1"/>
          <p:nvPr/>
        </p:nvSpPr>
        <p:spPr>
          <a:xfrm>
            <a:off x="5108986" y="1577224"/>
            <a:ext cx="1699416" cy="662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梦源黑体 CN W20" panose="020B0200000000000000" pitchFamily="34" charset="-122"/>
                <a:ea typeface="梦源黑体 CN W20" panose="020B0200000000000000" pitchFamily="34" charset="-122"/>
              </a:rPr>
              <a:t>新吴印象</a:t>
            </a:r>
            <a:endParaRPr kumimoji="1" lang="zh-CN" altLang="en-US" sz="2800" dirty="0">
              <a:latin typeface="梦源黑体 CN W20" panose="020B0200000000000000" pitchFamily="34" charset="-122"/>
              <a:ea typeface="梦源黑体 CN W20" panose="020B0200000000000000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6750A6-58F9-42B4-AAA8-41AF17882571}"/>
              </a:ext>
            </a:extLst>
          </p:cNvPr>
          <p:cNvCxnSpPr>
            <a:cxnSpLocks/>
          </p:cNvCxnSpPr>
          <p:nvPr/>
        </p:nvCxnSpPr>
        <p:spPr>
          <a:xfrm>
            <a:off x="6849721" y="1827771"/>
            <a:ext cx="0" cy="309100"/>
          </a:xfrm>
          <a:prstGeom prst="line">
            <a:avLst/>
          </a:prstGeom>
          <a:ln w="1905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2CB26D5-B975-4D69-8E70-C886F40529F2}"/>
              </a:ext>
            </a:extLst>
          </p:cNvPr>
          <p:cNvSpPr txBox="1"/>
          <p:nvPr/>
        </p:nvSpPr>
        <p:spPr>
          <a:xfrm>
            <a:off x="6964337" y="1658721"/>
            <a:ext cx="3085474" cy="581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alpha val="50000"/>
                  </a:schemeClr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Impression of </a:t>
            </a:r>
            <a:r>
              <a:rPr lang="en-US" altLang="zh-CN" sz="2400" dirty="0" err="1">
                <a:solidFill>
                  <a:schemeClr val="tx1">
                    <a:alpha val="50000"/>
                  </a:schemeClr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Xinwu</a:t>
            </a:r>
            <a:endParaRPr kumimoji="1" lang="zh-CN" altLang="en-US" sz="2400" dirty="0">
              <a:solidFill>
                <a:schemeClr val="tx1">
                  <a:alpha val="50000"/>
                </a:schemeClr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C1875A8-5FA9-4056-B7C9-B45F89C2072C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37735">
            <a:off x="-2054525" y="1791581"/>
            <a:ext cx="4515645" cy="52882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6ABFA0B-8B42-4228-90E5-8B45080F7C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872">
            <a:off x="1280644" y="1351066"/>
            <a:ext cx="4167376" cy="504572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FA651F2-E62B-4757-9F8B-81AB0B7A2D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77" y="835873"/>
            <a:ext cx="3635366" cy="587907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750F194-F37D-4FF3-9B6D-C137E0A7100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21" y="5494224"/>
            <a:ext cx="1299871" cy="113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62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0">
        <p159:morph option="byObject"/>
      </p:transition>
    </mc:Choice>
    <mc:Fallback xmlns="">
      <p:transition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1E1C6784-EF64-4C7C-962B-12FCEC44D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DE06A186-0A02-4A30-B8DD-86CACEE99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794" y="310204"/>
            <a:ext cx="4726823" cy="1320524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64FC46D4-6E46-492B-814F-506C8E27B004}"/>
              </a:ext>
            </a:extLst>
          </p:cNvPr>
          <p:cNvGrpSpPr/>
          <p:nvPr/>
        </p:nvGrpSpPr>
        <p:grpSpPr>
          <a:xfrm>
            <a:off x="3821818" y="1291013"/>
            <a:ext cx="7874591" cy="5637386"/>
            <a:chOff x="3821818" y="1291013"/>
            <a:chExt cx="7874591" cy="5637386"/>
          </a:xfrm>
        </p:grpSpPr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3A412A7A-284B-4B70-8694-E7F791F85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21818" y="1291013"/>
              <a:ext cx="7874591" cy="563738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AAD2898-B451-4AAF-A4F1-D9FE54BE0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8095" y="1514998"/>
              <a:ext cx="2035301" cy="851868"/>
            </a:xfrm>
            <a:prstGeom prst="rect">
              <a:avLst/>
            </a:prstGeom>
          </p:spPr>
        </p:pic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471B8C51-405F-4A33-8D6C-9976F8B5BC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22" y="189894"/>
            <a:ext cx="1089056" cy="99316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7CC6C1C-3F2A-4071-A480-77C329CE98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26" y="310204"/>
            <a:ext cx="509983" cy="53580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DF5FCB34-5535-4198-8085-1DF6E6A744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288" y="4018280"/>
            <a:ext cx="8813519" cy="318345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A1FA4C7-9979-4F5D-9904-FFF1CD73CC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055" y="4895347"/>
            <a:ext cx="3230295" cy="21607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64DA957-F042-4E5F-AA8C-E0ADB87876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500" y="5883804"/>
            <a:ext cx="1014509" cy="130932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52AB6C0-1199-4B42-8DAD-0B8ACFE981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03" y="288818"/>
            <a:ext cx="2516757" cy="89424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7D20883-B91D-4CB7-9468-6E05C996E071}"/>
              </a:ext>
            </a:extLst>
          </p:cNvPr>
          <p:cNvSpPr txBox="1"/>
          <p:nvPr/>
        </p:nvSpPr>
        <p:spPr>
          <a:xfrm>
            <a:off x="5108986" y="1577224"/>
            <a:ext cx="1699416" cy="662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梦源黑体 CN W20" panose="020B0200000000000000" pitchFamily="34" charset="-122"/>
                <a:ea typeface="梦源黑体 CN W20" panose="020B0200000000000000" pitchFamily="34" charset="-122"/>
              </a:rPr>
              <a:t>区域概览</a:t>
            </a:r>
            <a:endParaRPr kumimoji="1" lang="zh-CN" altLang="en-US" sz="2800" dirty="0">
              <a:latin typeface="梦源黑体 CN W20" panose="020B0200000000000000" pitchFamily="34" charset="-122"/>
              <a:ea typeface="梦源黑体 CN W20" panose="020B0200000000000000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6750A6-58F9-42B4-AAA8-41AF17882571}"/>
              </a:ext>
            </a:extLst>
          </p:cNvPr>
          <p:cNvCxnSpPr>
            <a:cxnSpLocks/>
          </p:cNvCxnSpPr>
          <p:nvPr/>
        </p:nvCxnSpPr>
        <p:spPr>
          <a:xfrm>
            <a:off x="6849721" y="1827771"/>
            <a:ext cx="0" cy="309100"/>
          </a:xfrm>
          <a:prstGeom prst="line">
            <a:avLst/>
          </a:prstGeom>
          <a:ln w="1905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2CB26D5-B975-4D69-8E70-C886F40529F2}"/>
              </a:ext>
            </a:extLst>
          </p:cNvPr>
          <p:cNvSpPr txBox="1"/>
          <p:nvPr/>
        </p:nvSpPr>
        <p:spPr>
          <a:xfrm>
            <a:off x="6964337" y="1658721"/>
            <a:ext cx="3085474" cy="581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alpha val="50000"/>
                  </a:schemeClr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Regional overview</a:t>
            </a:r>
            <a:endParaRPr kumimoji="1" lang="zh-CN" altLang="en-US" sz="2400" dirty="0">
              <a:solidFill>
                <a:schemeClr val="tx1">
                  <a:alpha val="50000"/>
                </a:schemeClr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40F4F72-C713-441E-8CAA-2B0E1D2EB55D}"/>
              </a:ext>
            </a:extLst>
          </p:cNvPr>
          <p:cNvSpPr txBox="1"/>
          <p:nvPr/>
        </p:nvSpPr>
        <p:spPr>
          <a:xfrm>
            <a:off x="5108986" y="2932703"/>
            <a:ext cx="5858995" cy="2475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梅里古镇的檐角映月，鸿山遗址的玉琮揽日，尚田水乡的橹声穿梦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——</a:t>
            </a: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新吴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镌刻着吴地文明的深刻印记，坐拥江南文脉的核心秘境。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古与今在此交汇，水与智于此相融，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一座承载千年文化、引领未来风尚的江南地标，</a:t>
            </a:r>
            <a:endParaRPr lang="en-US" altLang="zh-CN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8A3F0C"/>
                </a:solidFill>
                <a:latin typeface="梦源黑体 CN W10" panose="020B0200000000000000" pitchFamily="34" charset="-122"/>
                <a:ea typeface="梦源黑体 CN W10" panose="020B0200000000000000" pitchFamily="34" charset="-122"/>
              </a:rPr>
              <a:t>正以磅礴之势，缓缓铺展时代新卷。</a:t>
            </a:r>
            <a:endParaRPr kumimoji="1" lang="zh-CN" altLang="en-US" sz="1500" dirty="0">
              <a:solidFill>
                <a:srgbClr val="8A3F0C"/>
              </a:solidFill>
              <a:latin typeface="梦源黑体 CN W10" panose="020B0200000000000000" pitchFamily="34" charset="-122"/>
              <a:ea typeface="梦源黑体 CN W10" panose="020B0200000000000000" pitchFamily="34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9257D66A-2610-435A-9B13-FDFC95FAA7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771" y="3525754"/>
            <a:ext cx="1375170" cy="98505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92CCD87-103F-423E-AFF0-A9D08F461B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77" y="1163357"/>
            <a:ext cx="4515645" cy="5288248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67E0C643-E59B-4F73-855C-9236335F32C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3" y="1343393"/>
            <a:ext cx="4167376" cy="5045724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1C91ED9E-0DE0-46CA-8619-8B25B4E6B4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77" y="835873"/>
            <a:ext cx="3635366" cy="587907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750F194-F37D-4FF3-9B6D-C137E0A7100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21" y="5494224"/>
            <a:ext cx="1299871" cy="113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89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5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443</Words>
  <Application>Microsoft Office PowerPoint</Application>
  <PresentationFormat>宽屏</PresentationFormat>
  <Paragraphs>42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梦源黑体 CN W10</vt:lpstr>
      <vt:lpstr>梦源黑体 CN W20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MR LI</dc:creator>
  <cp:lastModifiedBy>MR LI</cp:lastModifiedBy>
  <cp:revision>29</cp:revision>
  <dcterms:created xsi:type="dcterms:W3CDTF">2025-08-11T07:52:43Z</dcterms:created>
  <dcterms:modified xsi:type="dcterms:W3CDTF">2025-08-12T07:02:34Z</dcterms:modified>
</cp:coreProperties>
</file>